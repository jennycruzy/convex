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  <p:sldId id="265" r:id="rId1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.xml"/><Relationship Id="rId16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6EA8FF"/>
                </a:solidFill>
                <a:latin typeface="Aptos"/>
              </a:defRPr>
            </a:pPr>
            <a:r>
              <a:t>LABLAB.AI × ALPACA AI TRADING AGENTS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77724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5200" b="1">
                <a:solidFill>
                  <a:srgbClr val="E8EDF3"/>
                </a:solidFill>
                <a:latin typeface="Aptos"/>
              </a:defRPr>
            </a:pPr>
            <a:r>
              <a:t>CONVEX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98755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E8EDF3"/>
                </a:solidFill>
                <a:latin typeface="Aptos"/>
              </a:defRPr>
            </a:pPr>
            <a:r>
              <a:t>THE AUTONOMOUS 0DTE AGENT THAT</a:t>
            </a:r>
            <a:br/>
            <a:r>
              <a:t>REFUSES FALSE ALPHA BEFORE IT TRADES.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56432"/>
            <a:ext cx="8961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93A1B2"/>
                </a:solidFill>
                <a:latin typeface="Aptos"/>
              </a:defRPr>
            </a:pPr>
            <a:r>
              <a:t>Built for evidence-led execution: price real cost, control tail risk, and reconcile every broker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590288"/>
            <a:ext cx="10835640" cy="100584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828032"/>
            <a:ext cx="25146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93A1B2"/>
                </a:solidFill>
                <a:latin typeface="Aptos"/>
              </a:defRPr>
            </a:pPr>
            <a:r>
              <a:t>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120640"/>
            <a:ext cx="2514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4BBFA8"/>
                </a:solidFill>
                <a:latin typeface="Aptos"/>
              </a:defRPr>
            </a:pPr>
            <a:r>
              <a:t>lablab.ai × Alpaca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828032"/>
            <a:ext cx="28346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93A1B2"/>
                </a:solidFill>
                <a:latin typeface="Aptos"/>
              </a:defRPr>
            </a:pPr>
            <a:r>
              <a:t>BUILT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120640"/>
            <a:ext cx="2834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E2A552"/>
                </a:solidFill>
                <a:latin typeface="Aptos"/>
              </a:defRPr>
            </a:pPr>
            <a:r>
              <a:t>Alpaca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28032"/>
            <a:ext cx="28346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1">
                <a:solidFill>
                  <a:srgbClr val="93A1B2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120640"/>
            <a:ext cx="2834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1">
                <a:solidFill>
                  <a:srgbClr val="6EA8FF"/>
                </a:solidFill>
                <a:latin typeface="Aptos"/>
              </a:defRPr>
            </a:pPr>
            <a:r>
              <a:t>Jennycruzy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73152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PAPER-ONLY  /  SPY 0DTE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65760"/>
            <a:ext cx="6400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6EA8FF"/>
                </a:solidFill>
                <a:latin typeface="Aptos"/>
              </a:defRPr>
            </a:pPr>
            <a:r>
              <a:t>ONE-PAGE BUILD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67512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E8EDF3"/>
                </a:solidFill>
                <a:latin typeface="Aptos"/>
              </a:defRPr>
            </a:pPr>
            <a:r>
              <a:t>AI logic. Risk gates. Alpaca MCP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325880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93A1B2"/>
                </a:solidFill>
                <a:latin typeface="Aptos"/>
              </a:defRPr>
            </a:pPr>
            <a:r>
              <a:t>CONVEX uses deterministic decision code: the model can explain a decision, but it cannot invent a trade.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901952"/>
            <a:ext cx="3383280" cy="3493008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834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6EA8FF"/>
                </a:solidFill>
                <a:latin typeface="Aptos"/>
              </a:defRPr>
            </a:pPr>
            <a:r>
              <a:t>AI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9464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8EDF3"/>
                </a:solidFill>
                <a:latin typeface="Aptos"/>
              </a:defRPr>
            </a:pPr>
            <a:r>
              <a:t>Signal → candidate → net 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91839"/>
            <a:ext cx="91440" cy="91440"/>
          </a:xfrm>
          <a:prstGeom prst="round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2461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Completed 10:00 ET gap + VWAP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749039"/>
            <a:ext cx="91440" cy="91440"/>
          </a:xfrm>
          <a:prstGeom prst="round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7033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Direction-matched defined-risk vertical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06240"/>
            <a:ext cx="91440" cy="91440"/>
          </a:xfrm>
          <a:prstGeom prst="round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1605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Rank candidates after spread, fees, and slippage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663440"/>
            <a:ext cx="91440" cy="91440"/>
          </a:xfrm>
          <a:prstGeom prst="round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6177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Classifier informs eligibility, never position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5" y="1901952"/>
            <a:ext cx="3383280" cy="3493008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2194560"/>
            <a:ext cx="2834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E2A552"/>
                </a:solidFill>
                <a:latin typeface="Aptos"/>
              </a:defRPr>
            </a:pPr>
            <a:r>
              <a:t>RISK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569464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8EDF3"/>
                </a:solidFill>
                <a:latin typeface="Aptos"/>
              </a:defRPr>
            </a:pPr>
            <a:r>
              <a:t>Every blocking gate must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288" y="3291839"/>
            <a:ext cx="91440" cy="91440"/>
          </a:xfrm>
          <a:prstGeom prst="roundRect">
            <a:avLst/>
          </a:prstGeom>
          <a:solidFill>
            <a:srgbClr val="E2A552"/>
          </a:solidFill>
          <a:ln>
            <a:solidFill>
              <a:srgbClr val="E2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5" y="32461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Measured cost and spread admission cap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0288" y="3749039"/>
            <a:ext cx="91440" cy="91440"/>
          </a:xfrm>
          <a:prstGeom prst="roundRect">
            <a:avLst/>
          </a:prstGeom>
          <a:solidFill>
            <a:srgbClr val="E2A552"/>
          </a:solidFill>
          <a:ln>
            <a:solidFill>
              <a:srgbClr val="E2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7175" y="37033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Maximum loss and tail-loss cap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0288" y="4206240"/>
            <a:ext cx="91440" cy="91440"/>
          </a:xfrm>
          <a:prstGeom prst="roundRect">
            <a:avLst/>
          </a:prstGeom>
          <a:solidFill>
            <a:srgbClr val="E2A552"/>
          </a:solidFill>
          <a:ln>
            <a:solidFill>
              <a:srgbClr val="E2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7175" y="41605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Liquidity, fresh quotes, and buying power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0288" y="4663440"/>
            <a:ext cx="91440" cy="91440"/>
          </a:xfrm>
          <a:prstGeom prst="roundRect">
            <a:avLst/>
          </a:prstGeom>
          <a:solidFill>
            <a:srgbClr val="E2A552"/>
          </a:solidFill>
          <a:ln>
            <a:solidFill>
              <a:srgbClr val="E2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5" y="46177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Assignment guard and single-position limit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1901952"/>
            <a:ext cx="3383280" cy="3493008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194560"/>
            <a:ext cx="28346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4BBFA8"/>
                </a:solidFill>
                <a:latin typeface="Aptos"/>
              </a:defRPr>
            </a:pPr>
            <a:r>
              <a:t>ALPACA 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569464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8EDF3"/>
                </a:solidFill>
                <a:latin typeface="Aptos"/>
              </a:defRPr>
            </a:pPr>
            <a:r>
              <a:t>One market + execution boundary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9327" y="3291839"/>
            <a:ext cx="91440" cy="91440"/>
          </a:xfrm>
          <a:prstGeom prst="roundRect">
            <a:avLst/>
          </a:prstGeom>
          <a:solidFill>
            <a:srgbClr val="4BBFA8"/>
          </a:solidFill>
          <a:ln>
            <a:solidFill>
              <a:srgbClr val="4BB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86216" y="32461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Clock, calendar, stock bars, option chain, quotes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39327" y="3749039"/>
            <a:ext cx="91440" cy="91440"/>
          </a:xfrm>
          <a:prstGeom prst="roundRect">
            <a:avLst/>
          </a:prstGeom>
          <a:solidFill>
            <a:srgbClr val="4BBFA8"/>
          </a:solidFill>
          <a:ln>
            <a:solidFill>
              <a:srgbClr val="4BB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7033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Account, buying power, positions, and order state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39327" y="4206240"/>
            <a:ext cx="91440" cy="91440"/>
          </a:xfrm>
          <a:prstGeom prst="roundRect">
            <a:avLst/>
          </a:prstGeom>
          <a:solidFill>
            <a:srgbClr val="4BBFA8"/>
          </a:solidFill>
          <a:ln>
            <a:solidFill>
              <a:srgbClr val="4BB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6" y="41605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Atomic multi-leg limit orders with full-fill proof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9327" y="4663440"/>
            <a:ext cx="91440" cy="91440"/>
          </a:xfrm>
          <a:prstGeom prst="roundRect">
            <a:avLst/>
          </a:prstGeom>
          <a:solidFill>
            <a:srgbClr val="4BBFA8"/>
          </a:solidFill>
          <a:ln>
            <a:solidFill>
              <a:srgbClr val="4BB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6216" y="46177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E8EDF3"/>
                </a:solidFill>
                <a:latin typeface="Aptos"/>
              </a:defRPr>
            </a:pPr>
            <a:r>
              <a:t>Broker reconciliation into append-only receipts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" y="5779008"/>
            <a:ext cx="10972800" cy="512064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943600"/>
            <a:ext cx="104698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 b="1">
                <a:solidFill>
                  <a:srgbClr val="E8EDF3"/>
                </a:solidFill>
                <a:latin typeface="Aptos"/>
              </a:defRPr>
            </a:pPr>
            <a:r>
              <a:t>Outcome: no order exists until the signal, economics, risk gates, and broker state all agree.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6473952"/>
            <a:ext cx="676656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LABLAB.AI × ALPACA  /  PAPER-ONLY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99648" y="6473952"/>
            <a:ext cx="65836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1">
                <a:solidFill>
                  <a:srgbClr val="93A1B2"/>
                </a:solidFill>
                <a:latin typeface="Apto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76656"/>
            <a:ext cx="54864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000" b="1">
                <a:solidFill>
                  <a:srgbClr val="6EA8FF"/>
                </a:solidFill>
                <a:latin typeface="Aptos"/>
              </a:defRPr>
            </a:pPr>
            <a:r>
              <a:t>ALPACA AI TRADING AGENTS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6858000" cy="6583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4800" b="1">
                <a:solidFill>
                  <a:srgbClr val="E8EDF3"/>
                </a:solidFill>
                <a:latin typeface="Aptos"/>
              </a:defRPr>
            </a:pPr>
            <a:r>
              <a:t>CONVEX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48840"/>
            <a:ext cx="8595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E8EDF3"/>
                </a:solidFill>
                <a:latin typeface="Aptos"/>
              </a:defRPr>
            </a:pPr>
            <a:r>
              <a:t>Net P&amp;L infrastructure for autonomous options trading.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035808"/>
            <a:ext cx="8046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>
                <a:solidFill>
                  <a:srgbClr val="93A1B2"/>
                </a:solidFill>
                <a:latin typeface="Aptos"/>
              </a:defRPr>
            </a:pPr>
            <a:r>
              <a:t>The agent prices execution reality before it commits capital.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4224528"/>
            <a:ext cx="10835640" cy="100584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98848"/>
            <a:ext cx="256032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MCP-NATIVE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256032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1">
                <a:solidFill>
                  <a:srgbClr val="E8EDF3"/>
                </a:solidFill>
                <a:latin typeface="Aptos"/>
              </a:defRPr>
            </a:pPr>
            <a:r>
              <a:t>One market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498848"/>
            <a:ext cx="256032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E2A552"/>
                </a:solidFill>
                <a:latin typeface="Aptos"/>
              </a:defRPr>
            </a:pPr>
            <a:r>
              <a:t>COST-AWARE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800600"/>
            <a:ext cx="256032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1">
                <a:solidFill>
                  <a:srgbClr val="E8EDF3"/>
                </a:solidFill>
                <a:latin typeface="Aptos"/>
              </a:defRPr>
            </a:pPr>
            <a:r>
              <a:t>Net edge before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498848"/>
            <a:ext cx="256032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4BBFA8"/>
                </a:solidFill>
                <a:latin typeface="Aptos"/>
              </a:defRPr>
            </a:pPr>
            <a:r>
              <a:t>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800600"/>
            <a:ext cx="256032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1">
                <a:solidFill>
                  <a:srgbClr val="E8EDF3"/>
                </a:solidFill>
                <a:latin typeface="Aptos"/>
              </a:defRPr>
            </a:pPr>
            <a:r>
              <a:t>Every decision has a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473952"/>
            <a:ext cx="4572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PAPER-ONLY  /  SPY 0DTE  /  ALPACA MCP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84048"/>
            <a:ext cx="36576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76656"/>
            <a:ext cx="1097280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Aptos"/>
              </a:defRPr>
            </a:pPr>
            <a:r>
              <a:t>The hidden cost of “profitable” 0DTE trades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252728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473952"/>
            <a:ext cx="59436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ALPACA AI TRADING AGENTS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6473952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800" b="1">
                <a:solidFill>
                  <a:srgbClr val="93A1B2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54480"/>
            <a:ext cx="5212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>
                <a:solidFill>
                  <a:srgbClr val="E8EDF3"/>
                </a:solidFill>
                <a:latin typeface="Aptos"/>
              </a:defRPr>
            </a:pPr>
            <a:r>
              <a:t>Midpoint P&amp;L is not executable P&amp;L.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59152"/>
            <a:ext cx="5074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0">
                <a:solidFill>
                  <a:srgbClr val="93A1B2"/>
                </a:solidFill>
                <a:latin typeface="Aptos"/>
              </a:defRPr>
            </a:pPr>
            <a:r>
              <a:t>A strategy can look right on a payoff chart and still lose after bid/ask, fees, slippage, and the cost of closing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1572768"/>
            <a:ext cx="2057400" cy="114300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737360"/>
            <a:ext cx="1691640" cy="137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CANDIDATES PRICED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057400"/>
            <a:ext cx="169164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300" b="1">
                <a:solidFill>
                  <a:srgbClr val="6EA8FF"/>
                </a:solidFill>
                <a:latin typeface="Aptos"/>
              </a:defRPr>
            </a:pPr>
            <a:r>
              <a:t>1,101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572768"/>
            <a:ext cx="2057400" cy="114300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1737360"/>
            <a:ext cx="1691640" cy="137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COST CONSUMED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057400"/>
            <a:ext cx="169164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300" b="1">
                <a:solidFill>
                  <a:srgbClr val="E8776C"/>
                </a:solidFill>
                <a:latin typeface="Aptos"/>
              </a:defRPr>
            </a:pPr>
            <a:r>
              <a:t>482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035808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1">
                <a:solidFill>
                  <a:srgbClr val="E8EDF3"/>
                </a:solidFill>
                <a:latin typeface="Aptos"/>
              </a:defRPr>
            </a:pPr>
            <a:r>
              <a:t>43.8% showed gross profit that vanished after execution cost.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794760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60520"/>
            <a:ext cx="30632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1">
                <a:solidFill>
                  <a:srgbClr val="6EA8FF"/>
                </a:solidFill>
                <a:latin typeface="Aptos"/>
              </a:defRPr>
            </a:pPr>
            <a:r>
              <a:t>Spread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50799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Every additional leg pays the market again.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4160520"/>
            <a:ext cx="30632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1">
                <a:solidFill>
                  <a:srgbClr val="6EA8FF"/>
                </a:solidFill>
                <a:latin typeface="Aptos"/>
              </a:defRPr>
            </a:pPr>
            <a:r>
              <a:t>Tail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50799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A valid payoff still needs a bounded worst case.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4160520"/>
            <a:ext cx="30632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1">
                <a:solidFill>
                  <a:srgbClr val="6EA8FF"/>
                </a:solidFill>
                <a:latin typeface="Aptos"/>
              </a:defRPr>
            </a:pPr>
            <a:r>
              <a:t>Broker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50799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Submitted is not filled; account state decides.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84048"/>
            <a:ext cx="36576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76656"/>
            <a:ext cx="1097280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Aptos"/>
              </a:defRPr>
            </a:pPr>
            <a:r>
              <a:t>A closed evidence loop, not a black-box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252728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473952"/>
            <a:ext cx="59436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ALPACA AI TRADING AGENTS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6473952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800" b="1">
                <a:solidFill>
                  <a:srgbClr val="93A1B2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658368" cy="658368"/>
          </a:xfrm>
          <a:prstGeom prst="roundRect">
            <a:avLst/>
          </a:prstGeom>
          <a:solidFill>
            <a:srgbClr val="161C24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92224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000" b="1">
                <a:solidFill>
                  <a:srgbClr val="6EA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609344"/>
            <a:ext cx="196596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600" b="1">
                <a:solidFill>
                  <a:srgbClr val="E8EDF3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609344"/>
            <a:ext cx="704088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500" b="0">
                <a:solidFill>
                  <a:srgbClr val="93A1B2"/>
                </a:solidFill>
                <a:latin typeface="Aptos"/>
              </a:defRPr>
            </a:pPr>
            <a:r>
              <a:t>Account, clock, calendar, chain, quotes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2231136"/>
            <a:ext cx="27432" cy="420624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651760"/>
            <a:ext cx="658368" cy="658368"/>
          </a:xfrm>
          <a:prstGeom prst="roundRect">
            <a:avLst/>
          </a:prstGeom>
          <a:solidFill>
            <a:srgbClr val="161C24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71215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000" b="1">
                <a:solidFill>
                  <a:srgbClr val="6EA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688336"/>
            <a:ext cx="196596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600" b="1">
                <a:solidFill>
                  <a:srgbClr val="E8EDF3"/>
                </a:solidFill>
                <a:latin typeface="Aptos"/>
              </a:defRPr>
            </a:pPr>
            <a:r>
              <a:t>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88336"/>
            <a:ext cx="704088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500" b="0">
                <a:solidFill>
                  <a:srgbClr val="93A1B2"/>
                </a:solidFill>
                <a:latin typeface="Aptos"/>
              </a:defRPr>
            </a:pPr>
            <a:r>
              <a:t>Defined-risk candidates after full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" y="3310128"/>
            <a:ext cx="27432" cy="420624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730752"/>
            <a:ext cx="658368" cy="658368"/>
          </a:xfrm>
          <a:prstGeom prst="roundRect">
            <a:avLst/>
          </a:prstGeom>
          <a:solidFill>
            <a:srgbClr val="161C24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50208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000" b="1">
                <a:solidFill>
                  <a:srgbClr val="6EA8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767328"/>
            <a:ext cx="196596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600" b="1">
                <a:solidFill>
                  <a:srgbClr val="E8EDF3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767328"/>
            <a:ext cx="704088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500" b="0">
                <a:solidFill>
                  <a:srgbClr val="93A1B2"/>
                </a:solidFill>
                <a:latin typeface="Aptos"/>
              </a:defRPr>
            </a:pPr>
            <a:r>
              <a:t>Liquidity, tail-loss cap, assignment, freshness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" y="4389120"/>
            <a:ext cx="27432" cy="420624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809744"/>
            <a:ext cx="658368" cy="658368"/>
          </a:xfrm>
          <a:prstGeom prst="roundRect">
            <a:avLst/>
          </a:prstGeom>
          <a:solidFill>
            <a:srgbClr val="161C24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000" b="1">
                <a:solidFill>
                  <a:srgbClr val="6EA8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846320"/>
            <a:ext cx="196596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600" b="1">
                <a:solidFill>
                  <a:srgbClr val="E8EDF3"/>
                </a:solidFill>
                <a:latin typeface="Aptos"/>
              </a:defRPr>
            </a:pPr>
            <a:r>
              <a:t>Reconcile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846320"/>
            <a:ext cx="704088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500" b="0">
                <a:solidFill>
                  <a:srgbClr val="93A1B2"/>
                </a:solidFill>
                <a:latin typeface="Aptos"/>
              </a:defRPr>
            </a:pPr>
            <a:r>
              <a:t>Broker outcome becomes durable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815584"/>
            <a:ext cx="10424160" cy="36576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5916168"/>
            <a:ext cx="10012680" cy="1280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200" b="1">
                <a:solidFill>
                  <a:srgbClr val="4BBFA8"/>
                </a:solidFill>
                <a:latin typeface="Aptos"/>
              </a:defRPr>
            </a:pPr>
            <a:r>
              <a:t>The output is a decision with known economics—not an order with an invented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84048"/>
            <a:ext cx="36576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76656"/>
            <a:ext cx="1097280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Aptos"/>
              </a:defRPr>
            </a:pPr>
            <a:r>
              <a:t>One market boundary. One accountable decision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252728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473952"/>
            <a:ext cx="59436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ALPACA AI TRADING AGENTS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6473952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800" b="1">
                <a:solidFill>
                  <a:srgbClr val="93A1B2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91640"/>
            <a:ext cx="2395728" cy="2907792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65960"/>
            <a:ext cx="20299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000" b="1">
                <a:solidFill>
                  <a:srgbClr val="6EA8FF"/>
                </a:solidFill>
                <a:latin typeface="Aptos"/>
              </a:defRPr>
            </a:pPr>
            <a:r>
              <a:t>ALPACA MCP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377440"/>
            <a:ext cx="2029968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697480"/>
            <a:ext cx="201168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Aptos"/>
              </a:defRPr>
            </a:pPr>
            <a:r>
              <a:t>Account</a:t>
            </a:r>
            <a:br/>
            <a:r>
              <a:t>Calendar</a:t>
            </a:r>
            <a:br/>
            <a:r>
              <a:t>Market data</a:t>
            </a:r>
            <a:br/>
            <a:r>
              <a:t>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91640"/>
            <a:ext cx="2395728" cy="2907792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965960"/>
            <a:ext cx="20299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000" b="1">
                <a:solidFill>
                  <a:srgbClr val="6EA8FF"/>
                </a:solidFill>
                <a:latin typeface="Aptos"/>
              </a:defRPr>
            </a:pPr>
            <a:r>
              <a:t>TYPED 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377440"/>
            <a:ext cx="2029968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697480"/>
            <a:ext cx="201168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Aptos"/>
              </a:defRPr>
            </a:pPr>
            <a:r>
              <a:t>Missing data</a:t>
            </a:r>
            <a:br/>
            <a:r>
              <a:t>raises</a:t>
            </a:r>
            <a:br/>
            <a:r>
              <a:t>No silent defaults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691640"/>
            <a:ext cx="2395728" cy="2907792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965960"/>
            <a:ext cx="20299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000" b="1">
                <a:solidFill>
                  <a:srgbClr val="6EA8FF"/>
                </a:solidFill>
                <a:latin typeface="Aptos"/>
              </a:defRPr>
            </a:pPr>
            <a:r>
              <a:t>NET-EDGE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377440"/>
            <a:ext cx="2029968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697480"/>
            <a:ext cx="201168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Aptos"/>
              </a:defRPr>
            </a:pPr>
            <a:r>
              <a:t>Cost waterfall</a:t>
            </a:r>
            <a:br/>
            <a:r>
              <a:t>Maximum loss</a:t>
            </a:r>
            <a:br/>
            <a:r>
              <a:t>Tail-loss cap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691640"/>
            <a:ext cx="2395728" cy="2907792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965960"/>
            <a:ext cx="20299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000" b="1">
                <a:solidFill>
                  <a:srgbClr val="6EA8FF"/>
                </a:solidFill>
                <a:latin typeface="Aptos"/>
              </a:defRPr>
            </a:pPr>
            <a:r>
              <a:t>LEDGER + MANAGER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136" y="2377440"/>
            <a:ext cx="2029968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89136" y="2697480"/>
            <a:ext cx="201168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E8EDF3"/>
                </a:solidFill>
                <a:latin typeface="Aptos"/>
              </a:defRPr>
            </a:pPr>
            <a:r>
              <a:t>Atomic orders</a:t>
            </a:r>
            <a:br/>
            <a:r>
              <a:t>Broker reconciliation</a:t>
            </a:r>
            <a:br/>
            <a:r>
              <a:t>Assignment guard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074920"/>
            <a:ext cx="10927080" cy="786384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85232"/>
            <a:ext cx="10378440" cy="1554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500" b="1">
                <a:solidFill>
                  <a:srgbClr val="4BBFA8"/>
                </a:solidFill>
                <a:latin typeface="Aptos"/>
              </a:defRPr>
            </a:pPr>
            <a:r>
              <a:t>LLM role: explain computed facts. Numerical control plane: deterministic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84048"/>
            <a:ext cx="36576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LIVE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76656"/>
            <a:ext cx="1097280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Aptos"/>
              </a:defRPr>
            </a:pPr>
            <a:r>
              <a:t>Current paper policy: selective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252728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473952"/>
            <a:ext cx="59436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ALPACA AI TRADING AGENTS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6473952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800" b="1">
                <a:solidFill>
                  <a:srgbClr val="93A1B2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517904"/>
            <a:ext cx="914400" cy="292608"/>
          </a:xfrm>
          <a:prstGeom prst="roundRect">
            <a:avLst/>
          </a:prstGeom>
          <a:solidFill>
            <a:srgbClr val="161C24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95628"/>
            <a:ext cx="914400" cy="1097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800" b="1">
                <a:solidFill>
                  <a:srgbClr val="6EA8FF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56816"/>
            <a:ext cx="31546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>
                <a:solidFill>
                  <a:srgbClr val="E8EDF3"/>
                </a:solidFill>
                <a:latin typeface="Aptos"/>
              </a:defRPr>
            </a:pPr>
            <a:r>
              <a:t>Opening gap + VWAP continuation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78608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Direction is determined from completed 10:00 ET bars.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517904"/>
            <a:ext cx="1115568" cy="292608"/>
          </a:xfrm>
          <a:prstGeom prst="roundRect">
            <a:avLst/>
          </a:prstGeom>
          <a:solidFill>
            <a:srgbClr val="161C24"/>
          </a:solidFill>
          <a:ln>
            <a:solidFill>
              <a:srgbClr val="4BB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595628"/>
            <a:ext cx="1115568" cy="1097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800" b="1">
                <a:solidFill>
                  <a:srgbClr val="4BBFA8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956816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>
                <a:solidFill>
                  <a:srgbClr val="E8EDF3"/>
                </a:solidFill>
                <a:latin typeface="Aptos"/>
              </a:defRPr>
            </a:pPr>
            <a:r>
              <a:t>One-lot debit vertical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78608"/>
            <a:ext cx="29992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Bull call or bear put, matched to the observed direction.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517904"/>
            <a:ext cx="1097280" cy="292608"/>
          </a:xfrm>
          <a:prstGeom prst="roundRect">
            <a:avLst/>
          </a:prstGeom>
          <a:solidFill>
            <a:srgbClr val="161C24"/>
          </a:solidFill>
          <a:ln>
            <a:solidFill>
              <a:srgbClr val="E2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595628"/>
            <a:ext cx="1097280" cy="1097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800" b="1">
                <a:solidFill>
                  <a:srgbClr val="E2A552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1956816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>
                <a:solidFill>
                  <a:srgbClr val="E8EDF3"/>
                </a:solidFill>
                <a:latin typeface="Aptos"/>
              </a:defRPr>
            </a:pPr>
            <a:r>
              <a:t>Fresh quotes + limit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78608"/>
            <a:ext cx="2834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Canceled zero-fill entries use the controlled reprice ladder.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3703320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552" y="4251960"/>
            <a:ext cx="2240280" cy="114300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416552"/>
            <a:ext cx="1874520" cy="137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SPREAD ADMISSION CAP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736592"/>
            <a:ext cx="18745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300" b="1">
                <a:solidFill>
                  <a:srgbClr val="4BBFA8"/>
                </a:solidFill>
                <a:latin typeface="Aptos"/>
              </a:defRPr>
            </a:pPr>
            <a:r>
              <a:t>1.00%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251960"/>
            <a:ext cx="2240280" cy="114300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4416552"/>
            <a:ext cx="1874520" cy="137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POSITION 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736592"/>
            <a:ext cx="18745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300" b="1">
                <a:solidFill>
                  <a:srgbClr val="4BBFA8"/>
                </a:solidFill>
                <a:latin typeface="Aptos"/>
              </a:defRPr>
            </a:pPr>
            <a:r>
              <a:t>1 lot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4251960"/>
            <a:ext cx="2240280" cy="114300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416552"/>
            <a:ext cx="1874520" cy="137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DAILY LOSS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736592"/>
            <a:ext cx="18745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300" b="1">
                <a:solidFill>
                  <a:srgbClr val="E2A552"/>
                </a:solidFill>
                <a:latin typeface="Aptos"/>
              </a:defRPr>
            </a:pPr>
            <a:r>
              <a:t>3.0%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7696" y="4251960"/>
            <a:ext cx="2240280" cy="114300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576" y="4416552"/>
            <a:ext cx="1874520" cy="1371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CONCURRENT POSITIONS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4736592"/>
            <a:ext cx="187452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300" b="1">
                <a:solidFill>
                  <a:srgbClr val="E2A552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84048"/>
            <a:ext cx="36576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EXECUTION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76656"/>
            <a:ext cx="1097280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Aptos"/>
              </a:defRPr>
            </a:pPr>
            <a:r>
              <a:t>Risk controls are part of the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252728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473952"/>
            <a:ext cx="59436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ALPACA AI TRADING AGENTS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6473952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800" b="1">
                <a:solidFill>
                  <a:srgbClr val="93A1B2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18288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BEFORE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54480"/>
            <a:ext cx="489204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0">
                <a:solidFill>
                  <a:srgbClr val="E8EDF3"/>
                </a:solidFill>
                <a:latin typeface="Aptos"/>
              </a:defRPr>
            </a:pPr>
            <a:r>
              <a:t>Kill switch · calendar · buying power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02536"/>
            <a:ext cx="672084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18288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04872"/>
            <a:ext cx="489204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0">
                <a:solidFill>
                  <a:srgbClr val="E8EDF3"/>
                </a:solidFill>
                <a:latin typeface="Aptos"/>
              </a:defRPr>
            </a:pPr>
            <a:r>
              <a:t>Measured costs · spread cap · fresh quotes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52928"/>
            <a:ext cx="672084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18288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55264"/>
            <a:ext cx="489204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0">
                <a:solidFill>
                  <a:srgbClr val="E8EDF3"/>
                </a:solidFill>
                <a:latin typeface="Aptos"/>
              </a:defRPr>
            </a:pPr>
            <a:r>
              <a:t>Maximum loss · tail-loss cap · daily limit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672084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23944"/>
            <a:ext cx="18288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105656"/>
            <a:ext cx="489204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1400" b="0">
                <a:solidFill>
                  <a:srgbClr val="E8EDF3"/>
                </a:solidFill>
                <a:latin typeface="Aptos"/>
              </a:defRPr>
            </a:pPr>
            <a:r>
              <a:t>Single position · assignment guard · reconciliation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53712"/>
            <a:ext cx="672084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9560" y="1572768"/>
            <a:ext cx="3063240" cy="361188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01952"/>
            <a:ext cx="25146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93A1B2"/>
                </a:solidFill>
                <a:latin typeface="Aptos"/>
              </a:defRPr>
            </a:pPr>
            <a:r>
              <a:t>THE OPERATING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450592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4BBFA8"/>
                </a:solidFill>
                <a:latin typeface="Aptos"/>
              </a:defRPr>
            </a:pPr>
            <a:r>
              <a:t>A trade that cannot clear its economics never reaches the account.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023360"/>
            <a:ext cx="24688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93A1B2"/>
                </a:solidFill>
                <a:latin typeface="Aptos"/>
              </a:defRPr>
            </a:pPr>
            <a:r>
              <a:t>Standing down preserves future opportunity.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84048"/>
            <a:ext cx="36576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76656"/>
            <a:ext cx="1097280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Aptos"/>
              </a:defRPr>
            </a:pPr>
            <a:r>
              <a:t>Evidence governs what the agent is allowed to trade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252728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473952"/>
            <a:ext cx="59436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ALPACA AI TRADING AGENTS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6473952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800" b="1">
                <a:solidFill>
                  <a:srgbClr val="93A1B2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246120" cy="306324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269748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E8776C"/>
                </a:solidFill>
                <a:latin typeface="Aptos"/>
              </a:defRPr>
            </a:pPr>
            <a:r>
              <a:t>RETIRED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>
                <a:solidFill>
                  <a:srgbClr val="E8EDF3"/>
                </a:solidFill>
                <a:latin typeface="Aptos"/>
              </a:defRPr>
            </a:pPr>
            <a:r>
              <a:t>Legacy BWB and straddle families lost after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They are disabled.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91640"/>
            <a:ext cx="3246120" cy="306324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93392"/>
            <a:ext cx="269748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4BBFA8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8716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>
                <a:solidFill>
                  <a:srgbClr val="E8EDF3"/>
                </a:solidFill>
                <a:latin typeface="Aptos"/>
              </a:defRPr>
            </a:pPr>
            <a:r>
              <a:t>Gap/VWAP continuation into a one-lot vertical.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The live hypothesis.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691640"/>
            <a:ext cx="3246120" cy="3063240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993392"/>
            <a:ext cx="269748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487168"/>
            <a:ext cx="2697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1">
                <a:solidFill>
                  <a:srgbClr val="E8EDF3"/>
                </a:solidFill>
                <a:latin typeface="Aptos"/>
              </a:defRPr>
            </a:pPr>
            <a:r>
              <a:t>Expand evidence, then widen policy deliberately.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749039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93A1B2"/>
                </a:solidFill>
                <a:latin typeface="Aptos"/>
              </a:defRPr>
            </a:pPr>
            <a:r>
              <a:t>No shortcut around net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21808"/>
            <a:ext cx="10927080" cy="530352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1042416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300" b="1">
                <a:solidFill>
                  <a:srgbClr val="E8EDF3"/>
                </a:solidFill>
                <a:latin typeface="Aptos"/>
              </a:defRPr>
            </a:pPr>
            <a:r>
              <a:t>CONVEX preserves the receipt, retires weak policy, and routes stronger evidence through the same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9"/>
          </a:solidFill>
          <a:ln>
            <a:solidFill>
              <a:srgbClr val="0E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EA8FF"/>
          </a:solidFill>
          <a:ln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84048"/>
            <a:ext cx="365760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900" b="1">
                <a:solidFill>
                  <a:srgbClr val="6EA8FF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76656"/>
            <a:ext cx="1097280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2800" b="1">
                <a:solidFill>
                  <a:srgbClr val="E8EDF3"/>
                </a:solidFill>
                <a:latin typeface="Aptos"/>
              </a:defRPr>
            </a:pPr>
            <a:r>
              <a:t>Net P&amp;L should be auditable before it is tradable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252728"/>
            <a:ext cx="11018520" cy="10972"/>
          </a:xfrm>
          <a:prstGeom prst="rect">
            <a:avLst/>
          </a:prstGeom>
          <a:solidFill>
            <a:srgbClr val="2B3542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6473952"/>
            <a:ext cx="59436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defRPr sz="800" b="1">
                <a:solidFill>
                  <a:srgbClr val="93A1B2"/>
                </a:solidFill>
                <a:latin typeface="Aptos"/>
              </a:defRPr>
            </a:pPr>
            <a:r>
              <a:t>CONVEX  /  ALPACA AI TRADING AGENTS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6473952"/>
            <a:ext cx="6583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defRPr sz="800" b="1">
                <a:solidFill>
                  <a:srgbClr val="93A1B2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3000" b="1">
                <a:solidFill>
                  <a:srgbClr val="E8EDF3"/>
                </a:solidFill>
                <a:latin typeface="Aptos"/>
              </a:defRPr>
            </a:pPr>
            <a:r>
              <a:t>Most agents submit trades. CONVEX proves whether a trade deserves to exist.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108813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500" b="0">
                <a:solidFill>
                  <a:srgbClr val="93A1B2"/>
                </a:solidFill>
                <a:latin typeface="Aptos"/>
              </a:defRPr>
            </a:pPr>
            <a:r>
              <a:t>Execution-aware pricing  /  deterministic risk controls  /  broker-reconciled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840480"/>
            <a:ext cx="2852928" cy="1078992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096512"/>
            <a:ext cx="24871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000" b="1">
                <a:solidFill>
                  <a:srgbClr val="6EA8FF"/>
                </a:solidFill>
                <a:latin typeface="Aptos"/>
              </a:defRPr>
            </a:pPr>
            <a:r>
              <a:t>MCP-NATIVE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434840"/>
            <a:ext cx="24871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200" b="0">
                <a:solidFill>
                  <a:srgbClr val="E8EDF3"/>
                </a:solidFill>
                <a:latin typeface="Aptos"/>
              </a:defRPr>
            </a:pPr>
            <a:r>
              <a:t>One market and execution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2852928" cy="1078992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096512"/>
            <a:ext cx="24871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000" b="1">
                <a:solidFill>
                  <a:srgbClr val="E2A552"/>
                </a:solidFill>
                <a:latin typeface="Aptos"/>
              </a:defRPr>
            </a:pPr>
            <a:r>
              <a:t>COST-AWARE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34840"/>
            <a:ext cx="24871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200" b="0">
                <a:solidFill>
                  <a:srgbClr val="E8EDF3"/>
                </a:solidFill>
                <a:latin typeface="Aptos"/>
              </a:defRPr>
            </a:pPr>
            <a:r>
              <a:t>Net edge before a risk budget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3840480"/>
            <a:ext cx="2852928" cy="1078992"/>
          </a:xfrm>
          <a:prstGeom prst="roundRect">
            <a:avLst/>
          </a:prstGeom>
          <a:solidFill>
            <a:srgbClr val="161C24"/>
          </a:solidFill>
          <a:ln>
            <a:solidFill>
              <a:srgbClr val="2B3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4096512"/>
            <a:ext cx="248716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000" b="1">
                <a:solidFill>
                  <a:srgbClr val="4BBFA8"/>
                </a:solidFill>
                <a:latin typeface="Aptos"/>
              </a:defRPr>
            </a:pPr>
            <a:r>
              <a:t>AUDITABLE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4434840"/>
            <a:ext cx="24871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200" b="0">
                <a:solidFill>
                  <a:srgbClr val="E8EDF3"/>
                </a:solidFill>
                <a:latin typeface="Aptos"/>
              </a:defRPr>
            </a:pPr>
            <a:r>
              <a:t>Every decision has a receipt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50992"/>
            <a:ext cx="1088136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defRPr sz="1500" b="1">
                <a:solidFill>
                  <a:srgbClr val="E8EDF3"/>
                </a:solidFill>
                <a:latin typeface="Aptos"/>
              </a:defRPr>
            </a:pPr>
            <a:r>
              <a:t>CONVEX  /  execution-grade infrastructure for autonomous options trading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